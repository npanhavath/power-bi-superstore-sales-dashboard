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odec Pro Ultra-Bold" charset="1" panose="00000700000000000000"/>
      <p:regular r:id="rId25"/>
    </p:embeddedFont>
    <p:embeddedFont>
      <p:font typeface="Codec Pro Bold" charset="1" panose="00000600000000000000"/>
      <p:regular r:id="rId26"/>
    </p:embeddedFont>
    <p:embeddedFont>
      <p:font typeface="Codec Pro" charset="1" panose="00000500000000000000"/>
      <p:regular r:id="rId27"/>
    </p:embeddedFont>
    <p:embeddedFont>
      <p:font typeface="Roboto Bold" charset="1" panose="02000000000000000000"/>
      <p:regular r:id="rId28"/>
    </p:embeddedFont>
    <p:embeddedFont>
      <p:font typeface="Inter" charset="1" panose="020B0502030000000004"/>
      <p:regular r:id="rId29"/>
    </p:embeddedFont>
    <p:embeddedFont>
      <p:font typeface="Inter Bold" charset="1" panose="020B0802030000000004"/>
      <p:regular r:id="rId30"/>
    </p:embeddedFont>
    <p:embeddedFont>
      <p:font typeface="Inter Medium" charset="1" panose="020005030000000200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13" Target="../media/image29.png" Type="http://schemas.openxmlformats.org/officeDocument/2006/relationships/image"/><Relationship Id="rId14" Target="../media/image30.svg" Type="http://schemas.openxmlformats.org/officeDocument/2006/relationships/image"/><Relationship Id="rId15" Target="../media/image1.png" Type="http://schemas.openxmlformats.org/officeDocument/2006/relationships/image"/><Relationship Id="rId16" Target="../media/image2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jpe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62848" y="3539405"/>
            <a:ext cx="13362304" cy="268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4"/>
              </a:lnSpc>
            </a:pPr>
            <a:r>
              <a:rPr lang="en-US" b="true" sz="849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SUPERSTORE REGIONAL SALES PERFORMANCE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92031"/>
            <a:ext cx="2034275" cy="2046347"/>
            <a:chOff x="0" y="0"/>
            <a:chExt cx="825871" cy="8307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5871" cy="830772"/>
            </a:xfrm>
            <a:custGeom>
              <a:avLst/>
              <a:gdLst/>
              <a:ahLst/>
              <a:cxnLst/>
              <a:rect r="r" b="b" t="t" l="l"/>
              <a:pathLst>
                <a:path h="830772" w="825871">
                  <a:moveTo>
                    <a:pt x="412935" y="0"/>
                  </a:moveTo>
                  <a:cubicBezTo>
                    <a:pt x="184877" y="0"/>
                    <a:pt x="0" y="185975"/>
                    <a:pt x="0" y="415386"/>
                  </a:cubicBezTo>
                  <a:cubicBezTo>
                    <a:pt x="0" y="644797"/>
                    <a:pt x="184877" y="830772"/>
                    <a:pt x="412935" y="830772"/>
                  </a:cubicBezTo>
                  <a:cubicBezTo>
                    <a:pt x="640993" y="830772"/>
                    <a:pt x="825871" y="644797"/>
                    <a:pt x="825871" y="415386"/>
                  </a:cubicBezTo>
                  <a:cubicBezTo>
                    <a:pt x="825871" y="185975"/>
                    <a:pt x="640993" y="0"/>
                    <a:pt x="412935" y="0"/>
                  </a:cubicBezTo>
                  <a:close/>
                </a:path>
              </a:pathLst>
            </a:custGeom>
            <a:blipFill>
              <a:blip r:embed="rId4"/>
              <a:stretch>
                <a:fillRect l="-1553" t="0" r="-155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92802" y="6622853"/>
            <a:ext cx="5302397" cy="615157"/>
            <a:chOff x="0" y="0"/>
            <a:chExt cx="7069862" cy="82020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069862" cy="820209"/>
              <a:chOff x="0" y="0"/>
              <a:chExt cx="1396516" cy="16201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96516" cy="162017"/>
              </a:xfrm>
              <a:custGeom>
                <a:avLst/>
                <a:gdLst/>
                <a:ahLst/>
                <a:cxnLst/>
                <a:rect r="r" b="b" t="t" l="l"/>
                <a:pathLst>
                  <a:path h="162017" w="1396516">
                    <a:moveTo>
                      <a:pt x="81008" y="0"/>
                    </a:moveTo>
                    <a:lnTo>
                      <a:pt x="1315508" y="0"/>
                    </a:lnTo>
                    <a:cubicBezTo>
                      <a:pt x="1360247" y="0"/>
                      <a:pt x="1396516" y="36269"/>
                      <a:pt x="1396516" y="81008"/>
                    </a:cubicBezTo>
                    <a:lnTo>
                      <a:pt x="1396516" y="81008"/>
                    </a:lnTo>
                    <a:cubicBezTo>
                      <a:pt x="1396516" y="102493"/>
                      <a:pt x="1387981" y="123098"/>
                      <a:pt x="1372789" y="138290"/>
                    </a:cubicBezTo>
                    <a:cubicBezTo>
                      <a:pt x="1357597" y="153482"/>
                      <a:pt x="1336992" y="162017"/>
                      <a:pt x="1315508" y="162017"/>
                    </a:cubicBezTo>
                    <a:lnTo>
                      <a:pt x="81008" y="162017"/>
                    </a:lnTo>
                    <a:cubicBezTo>
                      <a:pt x="36269" y="162017"/>
                      <a:pt x="0" y="125748"/>
                      <a:pt x="0" y="81008"/>
                    </a:cubicBezTo>
                    <a:lnTo>
                      <a:pt x="0" y="81008"/>
                    </a:lnTo>
                    <a:cubicBezTo>
                      <a:pt x="0" y="36269"/>
                      <a:pt x="36269" y="0"/>
                      <a:pt x="81008" y="0"/>
                    </a:cubicBezTo>
                    <a:close/>
                  </a:path>
                </a:pathLst>
              </a:custGeom>
              <a:solidFill>
                <a:srgbClr val="2E58A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1396516" cy="1429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9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461931" y="131763"/>
              <a:ext cx="4247218" cy="528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9"/>
                </a:lnSpc>
              </a:pPr>
              <a:r>
                <a:rPr lang="en-US" b="true" sz="2499" spc="-82">
                  <a:solidFill>
                    <a:srgbClr val="FEFEFE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Mr. TOUCH SOPHEAK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67098" y="131763"/>
              <a:ext cx="1894833" cy="528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9"/>
                </a:lnSpc>
              </a:pPr>
              <a:r>
                <a:rPr lang="en-US" b="true" sz="2499" spc="-82">
                  <a:solidFill>
                    <a:srgbClr val="FEFEFE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Lecturer: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453111" y="617881"/>
            <a:ext cx="11381777" cy="1252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3435" spc="-113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Institute of Technology of Cambodia</a:t>
            </a:r>
          </a:p>
          <a:p>
            <a:pPr algn="ctr">
              <a:lnSpc>
                <a:spcPts val="4809"/>
              </a:lnSpc>
            </a:pPr>
            <a:r>
              <a:rPr lang="en-US" b="true" sz="3435" spc="-113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Department of Applied Mathematics and Statistics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56568" y="2436523"/>
            <a:ext cx="7711794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b="true" sz="3000" spc="-135">
                <a:solidFill>
                  <a:srgbClr val="446EB2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Visualization</a:t>
            </a:r>
          </a:p>
          <a:p>
            <a:pPr algn="ctr">
              <a:lnSpc>
                <a:spcPts val="3060"/>
              </a:lnSpc>
            </a:pPr>
            <a:r>
              <a:rPr lang="en-US" b="true" sz="3000" spc="-135">
                <a:solidFill>
                  <a:srgbClr val="446EB2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I4-AMS-DAS-B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96411" y="7371360"/>
            <a:ext cx="569517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499" spc="-112">
                <a:solidFill>
                  <a:srgbClr val="2E58A6"/>
                </a:solidFill>
                <a:latin typeface="Codec Pro"/>
                <a:ea typeface="Codec Pro"/>
                <a:cs typeface="Codec Pro"/>
                <a:sym typeface="Codec Pro"/>
              </a:rPr>
              <a:t> Group Member:</a:t>
            </a:r>
          </a:p>
          <a:p>
            <a:pPr algn="just">
              <a:lnSpc>
                <a:spcPts val="2549"/>
              </a:lnSpc>
            </a:pPr>
          </a:p>
          <a:p>
            <a:pPr algn="just">
              <a:lnSpc>
                <a:spcPts val="2549"/>
              </a:lnSpc>
            </a:pPr>
            <a:r>
              <a:rPr lang="en-US" sz="2499" spc="-112">
                <a:solidFill>
                  <a:srgbClr val="2E58A6"/>
                </a:solidFill>
                <a:latin typeface="Codec Pro"/>
                <a:ea typeface="Codec Pro"/>
                <a:cs typeface="Codec Pro"/>
                <a:sym typeface="Codec Pro"/>
              </a:rPr>
              <a:t>NHEN THEARY                              e20220455</a:t>
            </a:r>
          </a:p>
          <a:p>
            <a:pPr algn="just">
              <a:lnSpc>
                <a:spcPts val="2549"/>
              </a:lnSpc>
            </a:pPr>
            <a:r>
              <a:rPr lang="en-US" sz="2499" spc="-112">
                <a:solidFill>
                  <a:srgbClr val="2E58A6"/>
                </a:solidFill>
                <a:latin typeface="Codec Pro"/>
                <a:ea typeface="Codec Pro"/>
                <a:cs typeface="Codec Pro"/>
                <a:sym typeface="Codec Pro"/>
              </a:rPr>
              <a:t>NOB SREYNICH                            e20220741</a:t>
            </a:r>
          </a:p>
          <a:p>
            <a:pPr algn="just">
              <a:lnSpc>
                <a:spcPts val="2549"/>
              </a:lnSpc>
            </a:pPr>
            <a:r>
              <a:rPr lang="en-US" sz="2499" spc="-112">
                <a:solidFill>
                  <a:srgbClr val="2E58A6"/>
                </a:solidFill>
                <a:latin typeface="Codec Pro"/>
                <a:ea typeface="Codec Pro"/>
                <a:cs typeface="Codec Pro"/>
                <a:sym typeface="Codec Pro"/>
              </a:rPr>
              <a:t>PHYRUN PICHCHHORDA        e20220895</a:t>
            </a:r>
          </a:p>
          <a:p>
            <a:pPr algn="just">
              <a:lnSpc>
                <a:spcPts val="2549"/>
              </a:lnSpc>
            </a:pPr>
            <a:r>
              <a:rPr lang="en-US" sz="2499" spc="-112">
                <a:solidFill>
                  <a:srgbClr val="2E58A6"/>
                </a:solidFill>
                <a:latin typeface="Codec Pro"/>
                <a:ea typeface="Codec Pro"/>
                <a:cs typeface="Codec Pro"/>
                <a:sym typeface="Codec Pro"/>
              </a:rPr>
              <a:t>NOV PANHAVATH                        e20221643</a:t>
            </a:r>
          </a:p>
          <a:p>
            <a:pPr algn="just">
              <a:lnSpc>
                <a:spcPts val="2549"/>
              </a:lnSpc>
            </a:pPr>
            <a:r>
              <a:rPr lang="en-US" sz="2499" spc="-112">
                <a:solidFill>
                  <a:srgbClr val="2E58A6"/>
                </a:solidFill>
                <a:latin typeface="Codec Pro"/>
                <a:ea typeface="Codec Pro"/>
                <a:cs typeface="Codec Pro"/>
                <a:sym typeface="Codec Pro"/>
              </a:rPr>
              <a:t>SAMBATH SEAKTY                      e20220287</a:t>
            </a:r>
          </a:p>
          <a:p>
            <a:pPr algn="just">
              <a:lnSpc>
                <a:spcPts val="2549"/>
              </a:lnSpc>
            </a:pPr>
            <a:r>
              <a:rPr lang="en-US" sz="2499" spc="-112">
                <a:solidFill>
                  <a:srgbClr val="2E58A6"/>
                </a:solidFill>
                <a:latin typeface="Codec Pro"/>
                <a:ea typeface="Codec Pro"/>
                <a:cs typeface="Codec Pro"/>
                <a:sym typeface="Codec Pro"/>
              </a:rPr>
              <a:t>SOPHAT VITOU                             e20220813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824585" y="283495"/>
            <a:ext cx="2054883" cy="205488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0884" t="0" r="-10884" b="0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>
            <a:off x="2858600" y="6188625"/>
            <a:ext cx="13362276" cy="19050"/>
          </a:xfrm>
          <a:prstGeom prst="line">
            <a:avLst/>
          </a:prstGeom>
          <a:ln cap="flat" w="38100">
            <a:solidFill>
              <a:srgbClr val="2E58A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69645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93206" y="511298"/>
            <a:ext cx="9579966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TABLE OF CONTENTS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47153" y="2258110"/>
            <a:ext cx="6517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b="true" sz="249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01</a:t>
            </a:r>
          </a:p>
        </p:txBody>
      </p:sp>
      <p:sp>
        <p:nvSpPr>
          <p:cNvPr name="AutoShape 6" id="6"/>
          <p:cNvSpPr/>
          <p:nvPr/>
        </p:nvSpPr>
        <p:spPr>
          <a:xfrm>
            <a:off x="1947153" y="2939066"/>
            <a:ext cx="7136036" cy="4762"/>
          </a:xfrm>
          <a:prstGeom prst="line">
            <a:avLst/>
          </a:prstGeom>
          <a:ln cap="flat" w="9525">
            <a:solidFill>
              <a:srgbClr val="446E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947153" y="3062891"/>
            <a:ext cx="2773411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446EB2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47156" y="3849098"/>
            <a:ext cx="6517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b="true" sz="249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02</a:t>
            </a:r>
          </a:p>
        </p:txBody>
      </p:sp>
      <p:sp>
        <p:nvSpPr>
          <p:cNvPr name="AutoShape 9" id="9"/>
          <p:cNvSpPr/>
          <p:nvPr/>
        </p:nvSpPr>
        <p:spPr>
          <a:xfrm>
            <a:off x="1947156" y="4530054"/>
            <a:ext cx="7136036" cy="4762"/>
          </a:xfrm>
          <a:prstGeom prst="line">
            <a:avLst/>
          </a:prstGeom>
          <a:ln cap="flat" w="9525">
            <a:solidFill>
              <a:srgbClr val="446E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947156" y="4653879"/>
            <a:ext cx="5851748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446EB2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7153" y="5438104"/>
            <a:ext cx="6517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b="true" sz="249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03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947153" y="6119061"/>
            <a:ext cx="7136036" cy="4762"/>
          </a:xfrm>
          <a:prstGeom prst="line">
            <a:avLst/>
          </a:prstGeom>
          <a:ln cap="flat" w="9525">
            <a:solidFill>
              <a:srgbClr val="446E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947153" y="6242886"/>
            <a:ext cx="7136036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446EB2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Objective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47153" y="7027111"/>
            <a:ext cx="6517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b="true" sz="249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04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947153" y="7770933"/>
            <a:ext cx="7136036" cy="4762"/>
          </a:xfrm>
          <a:prstGeom prst="line">
            <a:avLst/>
          </a:prstGeom>
          <a:ln cap="flat" w="9525">
            <a:solidFill>
              <a:srgbClr val="446E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947153" y="7957622"/>
            <a:ext cx="2773411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446EB2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Overview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1925" y="2352798"/>
            <a:ext cx="6517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b="true" sz="249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98914" y="2990973"/>
            <a:ext cx="7136036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446EB2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Preprocessing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98904" y="3813298"/>
            <a:ext cx="6517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b="true" sz="249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06</a:t>
            </a:r>
          </a:p>
        </p:txBody>
      </p:sp>
      <p:sp>
        <p:nvSpPr>
          <p:cNvPr name="AutoShape 20" id="20"/>
          <p:cNvSpPr/>
          <p:nvPr/>
        </p:nvSpPr>
        <p:spPr>
          <a:xfrm>
            <a:off x="9398914" y="4532436"/>
            <a:ext cx="7136036" cy="4762"/>
          </a:xfrm>
          <a:prstGeom prst="line">
            <a:avLst/>
          </a:prstGeom>
          <a:ln cap="flat" w="9525">
            <a:solidFill>
              <a:srgbClr val="446E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9398904" y="4653879"/>
            <a:ext cx="7136036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446EB2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DAX Measures and Calculation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98904" y="5438104"/>
            <a:ext cx="6517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b="true" sz="249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07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398910" y="6109536"/>
            <a:ext cx="7136036" cy="4762"/>
          </a:xfrm>
          <a:prstGeom prst="line">
            <a:avLst/>
          </a:prstGeom>
          <a:ln cap="flat" w="9525">
            <a:solidFill>
              <a:srgbClr val="446E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9398901" y="6915863"/>
            <a:ext cx="65170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b="true" sz="2499">
                <a:solidFill>
                  <a:srgbClr val="182F5B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08</a:t>
            </a:r>
          </a:p>
        </p:txBody>
      </p:sp>
      <p:sp>
        <p:nvSpPr>
          <p:cNvPr name="AutoShape 25" id="25"/>
          <p:cNvSpPr/>
          <p:nvPr/>
        </p:nvSpPr>
        <p:spPr>
          <a:xfrm>
            <a:off x="9398901" y="7761408"/>
            <a:ext cx="7136036" cy="4762"/>
          </a:xfrm>
          <a:prstGeom prst="line">
            <a:avLst/>
          </a:prstGeom>
          <a:ln cap="flat" w="9525">
            <a:solidFill>
              <a:srgbClr val="446E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9398901" y="6217363"/>
            <a:ext cx="7136036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446EB2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Discussion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71925" y="7957622"/>
            <a:ext cx="7136036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446EB2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Conclusion and Demo</a:t>
            </a:r>
          </a:p>
        </p:txBody>
      </p:sp>
      <p:sp>
        <p:nvSpPr>
          <p:cNvPr name="AutoShape 28" id="28"/>
          <p:cNvSpPr/>
          <p:nvPr/>
        </p:nvSpPr>
        <p:spPr>
          <a:xfrm>
            <a:off x="9338098" y="2918559"/>
            <a:ext cx="7136036" cy="4762"/>
          </a:xfrm>
          <a:prstGeom prst="line">
            <a:avLst/>
          </a:prstGeom>
          <a:ln cap="flat" w="9525">
            <a:solidFill>
              <a:srgbClr val="446EB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5130" y="3671896"/>
            <a:ext cx="492414" cy="450335"/>
          </a:xfrm>
          <a:custGeom>
            <a:avLst/>
            <a:gdLst/>
            <a:ahLst/>
            <a:cxnLst/>
            <a:rect r="r" b="b" t="t" l="l"/>
            <a:pathLst>
              <a:path h="450335" w="492414">
                <a:moveTo>
                  <a:pt x="0" y="0"/>
                </a:moveTo>
                <a:lnTo>
                  <a:pt x="492413" y="0"/>
                </a:lnTo>
                <a:lnTo>
                  <a:pt x="492413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86705" y="3567121"/>
            <a:ext cx="15084282" cy="367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This pr</a:t>
            </a: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oject presents a data visualization dashboard built to analyze sales performance using the Superstore dataset. The dashboard provides an interactive way to explore key business metrics such as sales, profit, and regional performance.</a:t>
            </a:r>
          </a:p>
          <a:p>
            <a:pPr algn="just">
              <a:lnSpc>
                <a:spcPts val="3674"/>
              </a:lnSpc>
              <a:spcBef>
                <a:spcPct val="0"/>
              </a:spcBef>
            </a:pPr>
          </a:p>
          <a:p>
            <a:pPr algn="just">
              <a:lnSpc>
                <a:spcPts val="36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By using tools like Power BI, the goal is to transform raw data into meaningful insights that support better decision-making. This project demonstrates how data visualization can help identify trends, patterns, and business opportunities effectively.</a:t>
            </a:r>
          </a:p>
          <a:p>
            <a:pPr algn="just">
              <a:lnSpc>
                <a:spcPts val="3674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95130" y="5461267"/>
            <a:ext cx="492414" cy="450335"/>
          </a:xfrm>
          <a:custGeom>
            <a:avLst/>
            <a:gdLst/>
            <a:ahLst/>
            <a:cxnLst/>
            <a:rect r="r" b="b" t="t" l="l"/>
            <a:pathLst>
              <a:path h="450335" w="492414">
                <a:moveTo>
                  <a:pt x="0" y="0"/>
                </a:moveTo>
                <a:lnTo>
                  <a:pt x="492413" y="0"/>
                </a:lnTo>
                <a:lnTo>
                  <a:pt x="492413" y="450334"/>
                </a:lnTo>
                <a:lnTo>
                  <a:pt x="0" y="450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02632" y="857250"/>
            <a:ext cx="6282737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51739" y="857250"/>
            <a:ext cx="9584521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1859" y="2684524"/>
            <a:ext cx="1508428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 today’s business</a:t>
            </a: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environment, large amounts of sales data are collected, but they are often difficult to interpret and do not provide clear insights for decision-making.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01859" y="4015025"/>
            <a:ext cx="15084282" cy="3118082"/>
            <a:chOff x="0" y="0"/>
            <a:chExt cx="20112376" cy="41574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925792"/>
              <a:ext cx="671185" cy="604905"/>
            </a:xfrm>
            <a:custGeom>
              <a:avLst/>
              <a:gdLst/>
              <a:ahLst/>
              <a:cxnLst/>
              <a:rect r="r" b="b" t="t" l="l"/>
              <a:pathLst>
                <a:path h="604905" w="671185">
                  <a:moveTo>
                    <a:pt x="0" y="0"/>
                  </a:moveTo>
                  <a:lnTo>
                    <a:pt x="671185" y="0"/>
                  </a:lnTo>
                  <a:lnTo>
                    <a:pt x="671185" y="604906"/>
                  </a:lnTo>
                  <a:lnTo>
                    <a:pt x="0" y="604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765297"/>
              <a:ext cx="671185" cy="604905"/>
            </a:xfrm>
            <a:custGeom>
              <a:avLst/>
              <a:gdLst/>
              <a:ahLst/>
              <a:cxnLst/>
              <a:rect r="r" b="b" t="t" l="l"/>
              <a:pathLst>
                <a:path h="604905" w="671185">
                  <a:moveTo>
                    <a:pt x="0" y="0"/>
                  </a:moveTo>
                  <a:lnTo>
                    <a:pt x="671185" y="0"/>
                  </a:lnTo>
                  <a:lnTo>
                    <a:pt x="671185" y="604905"/>
                  </a:lnTo>
                  <a:lnTo>
                    <a:pt x="0" y="604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630131"/>
              <a:ext cx="671185" cy="604905"/>
            </a:xfrm>
            <a:custGeom>
              <a:avLst/>
              <a:gdLst/>
              <a:ahLst/>
              <a:cxnLst/>
              <a:rect r="r" b="b" t="t" l="l"/>
              <a:pathLst>
                <a:path h="604905" w="671185">
                  <a:moveTo>
                    <a:pt x="0" y="0"/>
                  </a:moveTo>
                  <a:lnTo>
                    <a:pt x="671185" y="0"/>
                  </a:lnTo>
                  <a:lnTo>
                    <a:pt x="671185" y="604906"/>
                  </a:lnTo>
                  <a:lnTo>
                    <a:pt x="0" y="604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6298876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Several key challenges exist: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16822" y="868642"/>
              <a:ext cx="19095555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Difficulty in identifying top-performing and underperforming regions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16822" y="1791506"/>
              <a:ext cx="19095555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Lack of clear visibility into profit and sales trends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016822" y="2656340"/>
              <a:ext cx="19095555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Challenges in analyzing product and category performance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3552537"/>
              <a:ext cx="671185" cy="604905"/>
            </a:xfrm>
            <a:custGeom>
              <a:avLst/>
              <a:gdLst/>
              <a:ahLst/>
              <a:cxnLst/>
              <a:rect r="r" b="b" t="t" l="l"/>
              <a:pathLst>
                <a:path h="604905" w="671185">
                  <a:moveTo>
                    <a:pt x="0" y="0"/>
                  </a:moveTo>
                  <a:lnTo>
                    <a:pt x="671185" y="0"/>
                  </a:lnTo>
                  <a:lnTo>
                    <a:pt x="671185" y="604905"/>
                  </a:lnTo>
                  <a:lnTo>
                    <a:pt x="0" y="604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016822" y="3578746"/>
              <a:ext cx="19095555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Time-consuming manual analysis of large datasets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01859" y="7482533"/>
            <a:ext cx="1508428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 a result, businesses may struggle to make informed decisions and miss opportunities for improvement.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48329" y="3746971"/>
            <a:ext cx="15192441" cy="719707"/>
            <a:chOff x="0" y="0"/>
            <a:chExt cx="20256589" cy="9596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9609" cy="959609"/>
            </a:xfrm>
            <a:custGeom>
              <a:avLst/>
              <a:gdLst/>
              <a:ahLst/>
              <a:cxnLst/>
              <a:rect r="r" b="b" t="t" l="l"/>
              <a:pathLst>
                <a:path h="959609" w="959609">
                  <a:moveTo>
                    <a:pt x="0" y="0"/>
                  </a:moveTo>
                  <a:lnTo>
                    <a:pt x="959609" y="0"/>
                  </a:lnTo>
                  <a:lnTo>
                    <a:pt x="959609" y="959609"/>
                  </a:lnTo>
                  <a:lnTo>
                    <a:pt x="0" y="959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161034" y="172888"/>
              <a:ext cx="19095555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To design and develop an interactive sales dashboard using Power BI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46131" y="4466678"/>
            <a:ext cx="15194639" cy="720806"/>
            <a:chOff x="0" y="0"/>
            <a:chExt cx="20259519" cy="9610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1075" cy="961075"/>
            </a:xfrm>
            <a:custGeom>
              <a:avLst/>
              <a:gdLst/>
              <a:ahLst/>
              <a:cxnLst/>
              <a:rect r="r" b="b" t="t" l="l"/>
              <a:pathLst>
                <a:path h="961075" w="961075">
                  <a:moveTo>
                    <a:pt x="0" y="0"/>
                  </a:moveTo>
                  <a:lnTo>
                    <a:pt x="961075" y="0"/>
                  </a:lnTo>
                  <a:lnTo>
                    <a:pt x="961075" y="961075"/>
                  </a:lnTo>
                  <a:lnTo>
                    <a:pt x="0" y="961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163964" y="173621"/>
              <a:ext cx="19095555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To analyze sales, profit, and performance across different regions and categories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8329" y="5187484"/>
            <a:ext cx="15193540" cy="719707"/>
            <a:chOff x="0" y="0"/>
            <a:chExt cx="20258054" cy="9596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9609" cy="959609"/>
            </a:xfrm>
            <a:custGeom>
              <a:avLst/>
              <a:gdLst/>
              <a:ahLst/>
              <a:cxnLst/>
              <a:rect r="r" b="b" t="t" l="l"/>
              <a:pathLst>
                <a:path h="959609" w="959609">
                  <a:moveTo>
                    <a:pt x="0" y="0"/>
                  </a:moveTo>
                  <a:lnTo>
                    <a:pt x="959609" y="0"/>
                  </a:lnTo>
                  <a:lnTo>
                    <a:pt x="959609" y="959609"/>
                  </a:lnTo>
                  <a:lnTo>
                    <a:pt x="0" y="959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162499" y="128092"/>
              <a:ext cx="19095555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To identify key trends and patterns in the data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6131" y="5907191"/>
            <a:ext cx="15192441" cy="718608"/>
            <a:chOff x="0" y="0"/>
            <a:chExt cx="20256589" cy="9581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8144" cy="958144"/>
            </a:xfrm>
            <a:custGeom>
              <a:avLst/>
              <a:gdLst/>
              <a:ahLst/>
              <a:cxnLst/>
              <a:rect r="r" b="b" t="t" l="l"/>
              <a:pathLst>
                <a:path h="958144" w="958144">
                  <a:moveTo>
                    <a:pt x="0" y="0"/>
                  </a:moveTo>
                  <a:lnTo>
                    <a:pt x="958144" y="0"/>
                  </a:lnTo>
                  <a:lnTo>
                    <a:pt x="958144" y="958144"/>
                  </a:lnTo>
                  <a:lnTo>
                    <a:pt x="0" y="958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161034" y="172155"/>
              <a:ext cx="19095555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To highlight high-performing and low-performing areas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857250"/>
            <a:ext cx="5425651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Objectives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6488" y="3022218"/>
            <a:ext cx="150842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The</a:t>
            </a: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main objectives of this project are: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46131" y="6625799"/>
            <a:ext cx="15192441" cy="718608"/>
            <a:chOff x="0" y="0"/>
            <a:chExt cx="20256589" cy="9581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8144" cy="958144"/>
            </a:xfrm>
            <a:custGeom>
              <a:avLst/>
              <a:gdLst/>
              <a:ahLst/>
              <a:cxnLst/>
              <a:rect r="r" b="b" t="t" l="l"/>
              <a:pathLst>
                <a:path h="958144" w="958144">
                  <a:moveTo>
                    <a:pt x="0" y="0"/>
                  </a:moveTo>
                  <a:lnTo>
                    <a:pt x="958144" y="0"/>
                  </a:lnTo>
                  <a:lnTo>
                    <a:pt x="958144" y="958144"/>
                  </a:lnTo>
                  <a:lnTo>
                    <a:pt x="0" y="958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161034" y="172155"/>
              <a:ext cx="19095555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To provide insights and recommendations that support better business decisions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6411" y="1366266"/>
            <a:ext cx="1821685" cy="56931"/>
            <a:chOff x="0" y="0"/>
            <a:chExt cx="2428913" cy="759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8875" cy="75946"/>
            </a:xfrm>
            <a:custGeom>
              <a:avLst/>
              <a:gdLst/>
              <a:ahLst/>
              <a:cxnLst/>
              <a:rect r="r" b="b" t="t" l="l"/>
              <a:pathLst>
                <a:path h="75946" w="2428875">
                  <a:moveTo>
                    <a:pt x="0" y="0"/>
                  </a:moveTo>
                  <a:lnTo>
                    <a:pt x="2428875" y="0"/>
                  </a:lnTo>
                  <a:lnTo>
                    <a:pt x="2428875" y="75946"/>
                  </a:lnTo>
                  <a:lnTo>
                    <a:pt x="0" y="75946"/>
                  </a:lnTo>
                </a:path>
              </a:pathLst>
            </a:custGeom>
            <a:solidFill>
              <a:srgbClr val="151F2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9281" y="1764754"/>
            <a:ext cx="5493515" cy="8524913"/>
            <a:chOff x="0" y="0"/>
            <a:chExt cx="7324687" cy="113665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24725" cy="11366500"/>
            </a:xfrm>
            <a:custGeom>
              <a:avLst/>
              <a:gdLst/>
              <a:ahLst/>
              <a:cxnLst/>
              <a:rect r="r" b="b" t="t" l="l"/>
              <a:pathLst>
                <a:path h="11366500" w="7324725">
                  <a:moveTo>
                    <a:pt x="0" y="0"/>
                  </a:moveTo>
                  <a:lnTo>
                    <a:pt x="7324725" y="0"/>
                  </a:lnTo>
                  <a:lnTo>
                    <a:pt x="7324725" y="11366500"/>
                  </a:lnTo>
                  <a:lnTo>
                    <a:pt x="0" y="11366500"/>
                  </a:lnTo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64216" y="2163251"/>
            <a:ext cx="249060" cy="284636"/>
          </a:xfrm>
          <a:custGeom>
            <a:avLst/>
            <a:gdLst/>
            <a:ahLst/>
            <a:cxnLst/>
            <a:rect r="r" b="b" t="t" l="l"/>
            <a:pathLst>
              <a:path h="284636" w="249060">
                <a:moveTo>
                  <a:pt x="0" y="0"/>
                </a:moveTo>
                <a:lnTo>
                  <a:pt x="249059" y="0"/>
                </a:lnTo>
                <a:lnTo>
                  <a:pt x="249059" y="284636"/>
                </a:lnTo>
                <a:lnTo>
                  <a:pt x="0" y="284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66635" y="2106320"/>
            <a:ext cx="4596908" cy="486807"/>
            <a:chOff x="0" y="0"/>
            <a:chExt cx="6129210" cy="6490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29208" cy="649069"/>
            </a:xfrm>
            <a:custGeom>
              <a:avLst/>
              <a:gdLst/>
              <a:ahLst/>
              <a:cxnLst/>
              <a:rect r="r" b="b" t="t" l="l"/>
              <a:pathLst>
                <a:path h="649069" w="6129208">
                  <a:moveTo>
                    <a:pt x="0" y="0"/>
                  </a:moveTo>
                  <a:lnTo>
                    <a:pt x="6129208" y="0"/>
                  </a:lnTo>
                  <a:lnTo>
                    <a:pt x="6129208" y="649069"/>
                  </a:lnTo>
                  <a:lnTo>
                    <a:pt x="0" y="6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3068" r="0" b="-12492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129210" cy="706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7"/>
                </a:lnSpc>
              </a:pPr>
              <a:r>
                <a:rPr lang="en-US" sz="2241" b="true">
                  <a:solidFill>
                    <a:srgbClr val="1E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Dataset Profile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0838" y="2795149"/>
            <a:ext cx="4810382" cy="1537049"/>
            <a:chOff x="0" y="0"/>
            <a:chExt cx="6413843" cy="20493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13881" cy="2049399"/>
            </a:xfrm>
            <a:custGeom>
              <a:avLst/>
              <a:gdLst/>
              <a:ahLst/>
              <a:cxnLst/>
              <a:rect r="r" b="b" t="t" l="l"/>
              <a:pathLst>
                <a:path h="2049399" w="6413881">
                  <a:moveTo>
                    <a:pt x="0" y="0"/>
                  </a:moveTo>
                  <a:lnTo>
                    <a:pt x="6413881" y="0"/>
                  </a:lnTo>
                  <a:lnTo>
                    <a:pt x="6413881" y="2049399"/>
                  </a:lnTo>
                  <a:lnTo>
                    <a:pt x="0" y="2049399"/>
                  </a:lnTo>
                </a:path>
              </a:pathLst>
            </a:custGeom>
            <a:solidFill>
              <a:srgbClr val="B8D3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149229" y="3022854"/>
            <a:ext cx="192129" cy="256175"/>
          </a:xfrm>
          <a:custGeom>
            <a:avLst/>
            <a:gdLst/>
            <a:ahLst/>
            <a:cxnLst/>
            <a:rect r="r" b="b" t="t" l="l"/>
            <a:pathLst>
              <a:path h="256175" w="192129">
                <a:moveTo>
                  <a:pt x="0" y="0"/>
                </a:moveTo>
                <a:lnTo>
                  <a:pt x="192129" y="0"/>
                </a:lnTo>
                <a:lnTo>
                  <a:pt x="192129" y="256175"/>
                </a:lnTo>
                <a:lnTo>
                  <a:pt x="0" y="2561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72625" y="2965933"/>
            <a:ext cx="2575979" cy="386883"/>
            <a:chOff x="0" y="0"/>
            <a:chExt cx="3434639" cy="5158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34634" cy="515843"/>
            </a:xfrm>
            <a:custGeom>
              <a:avLst/>
              <a:gdLst/>
              <a:ahLst/>
              <a:cxnLst/>
              <a:rect r="r" b="b" t="t" l="l"/>
              <a:pathLst>
                <a:path h="515843" w="3434634">
                  <a:moveTo>
                    <a:pt x="0" y="0"/>
                  </a:moveTo>
                  <a:lnTo>
                    <a:pt x="3434634" y="0"/>
                  </a:lnTo>
                  <a:lnTo>
                    <a:pt x="3434634" y="515843"/>
                  </a:lnTo>
                  <a:lnTo>
                    <a:pt x="0" y="515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593" r="0" b="-7388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434639" cy="572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sz="1792" b="true">
                  <a:solidFill>
                    <a:srgbClr val="1E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Transaction Records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72625" y="3307499"/>
            <a:ext cx="2675601" cy="723132"/>
            <a:chOff x="0" y="0"/>
            <a:chExt cx="3567468" cy="9641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67464" cy="964174"/>
            </a:xfrm>
            <a:custGeom>
              <a:avLst/>
              <a:gdLst/>
              <a:ahLst/>
              <a:cxnLst/>
              <a:rect r="r" b="b" t="t" l="l"/>
              <a:pathLst>
                <a:path h="964174" w="3567464">
                  <a:moveTo>
                    <a:pt x="0" y="0"/>
                  </a:moveTo>
                  <a:lnTo>
                    <a:pt x="3567464" y="0"/>
                  </a:lnTo>
                  <a:lnTo>
                    <a:pt x="3567464" y="964174"/>
                  </a:lnTo>
                  <a:lnTo>
                    <a:pt x="0" y="964174"/>
                  </a:lnTo>
                  <a:close/>
                </a:path>
              </a:pathLst>
            </a:custGeom>
            <a:solidFill>
              <a:srgbClr val="145DA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567468" cy="97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3"/>
                </a:lnSpc>
              </a:pPr>
              <a:r>
                <a:rPr lang="en-US" b="true" sz="3361">
                  <a:solidFill>
                    <a:srgbClr val="C75B4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9,329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72625" y="3898215"/>
            <a:ext cx="3145250" cy="386883"/>
            <a:chOff x="0" y="0"/>
            <a:chExt cx="4193667" cy="5158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93661" cy="515843"/>
            </a:xfrm>
            <a:custGeom>
              <a:avLst/>
              <a:gdLst/>
              <a:ahLst/>
              <a:cxnLst/>
              <a:rect r="r" b="b" t="t" l="l"/>
              <a:pathLst>
                <a:path h="515843" w="4193661">
                  <a:moveTo>
                    <a:pt x="0" y="0"/>
                  </a:moveTo>
                  <a:lnTo>
                    <a:pt x="4193661" y="0"/>
                  </a:lnTo>
                  <a:lnTo>
                    <a:pt x="4193661" y="515843"/>
                  </a:lnTo>
                  <a:lnTo>
                    <a:pt x="0" y="515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593" r="18099" b="-7388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193667" cy="572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sz="1792">
                  <a:solidFill>
                    <a:srgbClr val="2D2D2D"/>
                  </a:solidFill>
                  <a:latin typeface="Inter"/>
                  <a:ea typeface="Inter"/>
                  <a:cs typeface="Inter"/>
                  <a:sym typeface="Inter"/>
                </a:rPr>
                <a:t>Line items with full detail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0838" y="4685147"/>
            <a:ext cx="4810382" cy="1423187"/>
            <a:chOff x="0" y="0"/>
            <a:chExt cx="6413843" cy="18975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13881" cy="1897634"/>
            </a:xfrm>
            <a:custGeom>
              <a:avLst/>
              <a:gdLst/>
              <a:ahLst/>
              <a:cxnLst/>
              <a:rect r="r" b="b" t="t" l="l"/>
              <a:pathLst>
                <a:path h="1897634" w="6413881">
                  <a:moveTo>
                    <a:pt x="0" y="0"/>
                  </a:moveTo>
                  <a:lnTo>
                    <a:pt x="6413881" y="0"/>
                  </a:lnTo>
                  <a:lnTo>
                    <a:pt x="6413881" y="1897634"/>
                  </a:lnTo>
                  <a:lnTo>
                    <a:pt x="0" y="1897634"/>
                  </a:lnTo>
                </a:path>
              </a:pathLst>
            </a:custGeom>
            <a:solidFill>
              <a:srgbClr val="B8D3FF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133218" y="4912852"/>
            <a:ext cx="224152" cy="256175"/>
          </a:xfrm>
          <a:custGeom>
            <a:avLst/>
            <a:gdLst/>
            <a:ahLst/>
            <a:cxnLst/>
            <a:rect r="r" b="b" t="t" l="l"/>
            <a:pathLst>
              <a:path h="256175" w="224152">
                <a:moveTo>
                  <a:pt x="0" y="0"/>
                </a:moveTo>
                <a:lnTo>
                  <a:pt x="224152" y="0"/>
                </a:lnTo>
                <a:lnTo>
                  <a:pt x="224152" y="256175"/>
                </a:lnTo>
                <a:lnTo>
                  <a:pt x="0" y="2561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572625" y="4855931"/>
            <a:ext cx="2817914" cy="386883"/>
            <a:chOff x="0" y="0"/>
            <a:chExt cx="3757219" cy="5158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57224" cy="515843"/>
            </a:xfrm>
            <a:custGeom>
              <a:avLst/>
              <a:gdLst/>
              <a:ahLst/>
              <a:cxnLst/>
              <a:rect r="r" b="b" t="t" l="l"/>
              <a:pathLst>
                <a:path h="515843" w="3757224">
                  <a:moveTo>
                    <a:pt x="0" y="0"/>
                  </a:moveTo>
                  <a:lnTo>
                    <a:pt x="3757224" y="0"/>
                  </a:lnTo>
                  <a:lnTo>
                    <a:pt x="3757224" y="515843"/>
                  </a:lnTo>
                  <a:lnTo>
                    <a:pt x="0" y="515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778" r="0" b="-8606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3757219" cy="572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sz="1792" b="true">
                  <a:solidFill>
                    <a:srgbClr val="1E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Time Period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72625" y="5247767"/>
            <a:ext cx="3278893" cy="486807"/>
            <a:chOff x="0" y="0"/>
            <a:chExt cx="4371858" cy="6490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71854" cy="649069"/>
            </a:xfrm>
            <a:custGeom>
              <a:avLst/>
              <a:gdLst/>
              <a:ahLst/>
              <a:cxnLst/>
              <a:rect r="r" b="b" t="t" l="l"/>
              <a:pathLst>
                <a:path h="649069" w="4371854">
                  <a:moveTo>
                    <a:pt x="0" y="0"/>
                  </a:moveTo>
                  <a:lnTo>
                    <a:pt x="4371854" y="0"/>
                  </a:lnTo>
                  <a:lnTo>
                    <a:pt x="4371854" y="649069"/>
                  </a:lnTo>
                  <a:lnTo>
                    <a:pt x="0" y="6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001" r="13190" b="-5486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4371858" cy="706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7"/>
                </a:lnSpc>
              </a:pPr>
              <a:r>
                <a:rPr lang="en-US" sz="2241" b="true">
                  <a:solidFill>
                    <a:srgbClr val="C75B4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Jan 2020 – Dec 2023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72625" y="5664826"/>
            <a:ext cx="2817914" cy="386883"/>
            <a:chOff x="0" y="0"/>
            <a:chExt cx="3757219" cy="5158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7224" cy="515843"/>
            </a:xfrm>
            <a:custGeom>
              <a:avLst/>
              <a:gdLst/>
              <a:ahLst/>
              <a:cxnLst/>
              <a:rect r="r" b="b" t="t" l="l"/>
              <a:pathLst>
                <a:path h="515843" w="3757224">
                  <a:moveTo>
                    <a:pt x="0" y="0"/>
                  </a:moveTo>
                  <a:lnTo>
                    <a:pt x="3757224" y="0"/>
                  </a:lnTo>
                  <a:lnTo>
                    <a:pt x="3757224" y="515843"/>
                  </a:lnTo>
                  <a:lnTo>
                    <a:pt x="0" y="515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778" r="0" b="-8606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3757219" cy="572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sz="1792">
                  <a:solidFill>
                    <a:srgbClr val="2D2D2D"/>
                  </a:solidFill>
                  <a:latin typeface="Inter"/>
                  <a:ea typeface="Inter"/>
                  <a:cs typeface="Inter"/>
                  <a:sym typeface="Inter"/>
                </a:rPr>
                <a:t>4 years of sales history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0838" y="6461284"/>
            <a:ext cx="4810382" cy="1537049"/>
            <a:chOff x="0" y="0"/>
            <a:chExt cx="6413843" cy="20493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13881" cy="2049399"/>
            </a:xfrm>
            <a:custGeom>
              <a:avLst/>
              <a:gdLst/>
              <a:ahLst/>
              <a:cxnLst/>
              <a:rect r="r" b="b" t="t" l="l"/>
              <a:pathLst>
                <a:path h="2049399" w="6413881">
                  <a:moveTo>
                    <a:pt x="0" y="0"/>
                  </a:moveTo>
                  <a:lnTo>
                    <a:pt x="6413881" y="0"/>
                  </a:lnTo>
                  <a:lnTo>
                    <a:pt x="6413881" y="2049399"/>
                  </a:lnTo>
                  <a:lnTo>
                    <a:pt x="0" y="2049399"/>
                  </a:lnTo>
                </a:path>
              </a:pathLst>
            </a:custGeom>
            <a:solidFill>
              <a:srgbClr val="B8D3FF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085183" y="6688998"/>
            <a:ext cx="320221" cy="256175"/>
          </a:xfrm>
          <a:custGeom>
            <a:avLst/>
            <a:gdLst/>
            <a:ahLst/>
            <a:cxnLst/>
            <a:rect r="r" b="b" t="t" l="l"/>
            <a:pathLst>
              <a:path h="256175" w="320221">
                <a:moveTo>
                  <a:pt x="0" y="0"/>
                </a:moveTo>
                <a:lnTo>
                  <a:pt x="320221" y="0"/>
                </a:lnTo>
                <a:lnTo>
                  <a:pt x="320221" y="256175"/>
                </a:lnTo>
                <a:lnTo>
                  <a:pt x="0" y="2561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572625" y="6632067"/>
            <a:ext cx="2604440" cy="386883"/>
            <a:chOff x="0" y="0"/>
            <a:chExt cx="3472586" cy="51584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72586" cy="515843"/>
            </a:xfrm>
            <a:custGeom>
              <a:avLst/>
              <a:gdLst/>
              <a:ahLst/>
              <a:cxnLst/>
              <a:rect r="r" b="b" t="t" l="l"/>
              <a:pathLst>
                <a:path h="515843" w="3472586">
                  <a:moveTo>
                    <a:pt x="0" y="0"/>
                  </a:moveTo>
                  <a:lnTo>
                    <a:pt x="3472586" y="0"/>
                  </a:lnTo>
                  <a:lnTo>
                    <a:pt x="3472586" y="515843"/>
                  </a:lnTo>
                  <a:lnTo>
                    <a:pt x="0" y="515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027" r="0" b="-7531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3472586" cy="572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sz="1792" b="true">
                  <a:solidFill>
                    <a:srgbClr val="1E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Unique Orders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72625" y="6973634"/>
            <a:ext cx="2704062" cy="723132"/>
            <a:chOff x="0" y="0"/>
            <a:chExt cx="3605416" cy="9641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05416" cy="964174"/>
            </a:xfrm>
            <a:custGeom>
              <a:avLst/>
              <a:gdLst/>
              <a:ahLst/>
              <a:cxnLst/>
              <a:rect r="r" b="b" t="t" l="l"/>
              <a:pathLst>
                <a:path h="964174" w="3605416">
                  <a:moveTo>
                    <a:pt x="0" y="0"/>
                  </a:moveTo>
                  <a:lnTo>
                    <a:pt x="3605416" y="0"/>
                  </a:lnTo>
                  <a:lnTo>
                    <a:pt x="3605416" y="964174"/>
                  </a:lnTo>
                  <a:lnTo>
                    <a:pt x="0" y="9641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436" r="0" b="-828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605416" cy="97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3"/>
                </a:lnSpc>
              </a:pPr>
              <a:r>
                <a:rPr lang="en-US" sz="3361" b="true">
                  <a:solidFill>
                    <a:srgbClr val="C75B4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6,417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72625" y="7554300"/>
            <a:ext cx="3045628" cy="386883"/>
            <a:chOff x="0" y="0"/>
            <a:chExt cx="4060838" cy="51584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60837" cy="515843"/>
            </a:xfrm>
            <a:custGeom>
              <a:avLst/>
              <a:gdLst/>
              <a:ahLst/>
              <a:cxnLst/>
              <a:rect r="r" b="b" t="t" l="l"/>
              <a:pathLst>
                <a:path h="515843" w="4060837">
                  <a:moveTo>
                    <a:pt x="0" y="0"/>
                  </a:moveTo>
                  <a:lnTo>
                    <a:pt x="4060837" y="0"/>
                  </a:lnTo>
                  <a:lnTo>
                    <a:pt x="4060837" y="515843"/>
                  </a:lnTo>
                  <a:lnTo>
                    <a:pt x="0" y="515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7027" r="14485" b="-7531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4060838" cy="572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sz="1792">
                  <a:solidFill>
                    <a:srgbClr val="2D2D2D"/>
                  </a:solidFill>
                  <a:latin typeface="Inter"/>
                  <a:ea typeface="Inter"/>
                  <a:cs typeface="Inter"/>
                  <a:sym typeface="Inter"/>
                </a:rPr>
                <a:t>Average $1,419 per order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0838" y="8351282"/>
            <a:ext cx="4810382" cy="1537049"/>
            <a:chOff x="0" y="0"/>
            <a:chExt cx="6413843" cy="20493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13881" cy="2049399"/>
            </a:xfrm>
            <a:custGeom>
              <a:avLst/>
              <a:gdLst/>
              <a:ahLst/>
              <a:cxnLst/>
              <a:rect r="r" b="b" t="t" l="l"/>
              <a:pathLst>
                <a:path h="2049399" w="6413881">
                  <a:moveTo>
                    <a:pt x="0" y="0"/>
                  </a:moveTo>
                  <a:lnTo>
                    <a:pt x="6413881" y="0"/>
                  </a:lnTo>
                  <a:lnTo>
                    <a:pt x="6413881" y="2049399"/>
                  </a:lnTo>
                  <a:lnTo>
                    <a:pt x="0" y="2049399"/>
                  </a:lnTo>
                </a:path>
              </a:pathLst>
            </a:custGeom>
            <a:solidFill>
              <a:srgbClr val="B8D3FF"/>
            </a:solid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1085183" y="8578996"/>
            <a:ext cx="320221" cy="256175"/>
          </a:xfrm>
          <a:custGeom>
            <a:avLst/>
            <a:gdLst/>
            <a:ahLst/>
            <a:cxnLst/>
            <a:rect r="r" b="b" t="t" l="l"/>
            <a:pathLst>
              <a:path h="256175" w="320221">
                <a:moveTo>
                  <a:pt x="0" y="0"/>
                </a:moveTo>
                <a:lnTo>
                  <a:pt x="320221" y="0"/>
                </a:lnTo>
                <a:lnTo>
                  <a:pt x="320221" y="256175"/>
                </a:lnTo>
                <a:lnTo>
                  <a:pt x="0" y="2561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572625" y="8522065"/>
            <a:ext cx="3045628" cy="386883"/>
            <a:chOff x="0" y="0"/>
            <a:chExt cx="4060838" cy="51584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60838" cy="515843"/>
            </a:xfrm>
            <a:custGeom>
              <a:avLst/>
              <a:gdLst/>
              <a:ahLst/>
              <a:cxnLst/>
              <a:rect r="r" b="b" t="t" l="l"/>
              <a:pathLst>
                <a:path h="515843" w="4060838">
                  <a:moveTo>
                    <a:pt x="0" y="0"/>
                  </a:moveTo>
                  <a:lnTo>
                    <a:pt x="4060838" y="0"/>
                  </a:lnTo>
                  <a:lnTo>
                    <a:pt x="4060838" y="515843"/>
                  </a:lnTo>
                  <a:lnTo>
                    <a:pt x="0" y="515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9247" r="0" b="-9753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4060838" cy="572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sz="1792" b="true">
                  <a:solidFill>
                    <a:srgbClr val="1E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Categories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72625" y="8863632"/>
            <a:ext cx="3145250" cy="723132"/>
            <a:chOff x="0" y="0"/>
            <a:chExt cx="4193667" cy="96417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93668" cy="964174"/>
            </a:xfrm>
            <a:custGeom>
              <a:avLst/>
              <a:gdLst/>
              <a:ahLst/>
              <a:cxnLst/>
              <a:rect r="r" b="b" t="t" l="l"/>
              <a:pathLst>
                <a:path h="964174" w="4193668">
                  <a:moveTo>
                    <a:pt x="0" y="0"/>
                  </a:moveTo>
                  <a:lnTo>
                    <a:pt x="4193668" y="0"/>
                  </a:lnTo>
                  <a:lnTo>
                    <a:pt x="4193668" y="964174"/>
                  </a:lnTo>
                  <a:lnTo>
                    <a:pt x="0" y="9641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24" r="0" b="-201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193667" cy="97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3"/>
                </a:lnSpc>
              </a:pPr>
              <a:r>
                <a:rPr lang="en-US" sz="3361" b="true">
                  <a:solidFill>
                    <a:srgbClr val="C75B4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17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72625" y="9442348"/>
            <a:ext cx="3733711" cy="739308"/>
            <a:chOff x="0" y="0"/>
            <a:chExt cx="4978281" cy="98574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978281" cy="985743"/>
            </a:xfrm>
            <a:custGeom>
              <a:avLst/>
              <a:gdLst/>
              <a:ahLst/>
              <a:cxnLst/>
              <a:rect r="r" b="b" t="t" l="l"/>
              <a:pathLst>
                <a:path h="985743" w="4978281">
                  <a:moveTo>
                    <a:pt x="0" y="0"/>
                  </a:moveTo>
                  <a:lnTo>
                    <a:pt x="4978281" y="0"/>
                  </a:lnTo>
                  <a:lnTo>
                    <a:pt x="4978281" y="985743"/>
                  </a:lnTo>
                  <a:lnTo>
                    <a:pt x="0" y="9857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169" r="18428" b="-337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4978281" cy="1042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sz="1792">
                  <a:solidFill>
                    <a:srgbClr val="2D2D2D"/>
                  </a:solidFill>
                  <a:latin typeface="Inter"/>
                  <a:ea typeface="Inter"/>
                  <a:cs typeface="Inter"/>
                  <a:sym typeface="Inter"/>
                </a:rPr>
                <a:t>Pr</a:t>
              </a:r>
              <a:r>
                <a:rPr lang="en-US" sz="1792">
                  <a:solidFill>
                    <a:srgbClr val="2D2D2D"/>
                  </a:solidFill>
                  <a:latin typeface="Inter"/>
                  <a:ea typeface="Inter"/>
                  <a:cs typeface="Inter"/>
                  <a:sym typeface="Inter"/>
                </a:rPr>
                <a:t>oduct Categories</a:t>
              </a:r>
            </a:p>
            <a:p>
              <a:pPr algn="l">
                <a:lnSpc>
                  <a:spcPts val="2796"/>
                </a:lnSpc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6667538" y="2230226"/>
            <a:ext cx="284636" cy="284636"/>
          </a:xfrm>
          <a:custGeom>
            <a:avLst/>
            <a:gdLst/>
            <a:ahLst/>
            <a:cxnLst/>
            <a:rect r="r" b="b" t="t" l="l"/>
            <a:pathLst>
              <a:path h="284636" w="284636">
                <a:moveTo>
                  <a:pt x="0" y="0"/>
                </a:moveTo>
                <a:lnTo>
                  <a:pt x="284636" y="0"/>
                </a:lnTo>
                <a:lnTo>
                  <a:pt x="284636" y="284636"/>
                </a:lnTo>
                <a:lnTo>
                  <a:pt x="0" y="2846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7028374" y="2134895"/>
            <a:ext cx="10431990" cy="533833"/>
            <a:chOff x="0" y="0"/>
            <a:chExt cx="13909319" cy="71177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909315" cy="711769"/>
            </a:xfrm>
            <a:custGeom>
              <a:avLst/>
              <a:gdLst/>
              <a:ahLst/>
              <a:cxnLst/>
              <a:rect r="r" b="b" t="t" l="l"/>
              <a:pathLst>
                <a:path h="711769" w="13909315">
                  <a:moveTo>
                    <a:pt x="0" y="0"/>
                  </a:moveTo>
                  <a:lnTo>
                    <a:pt x="13909315" y="0"/>
                  </a:lnTo>
                  <a:lnTo>
                    <a:pt x="13909315" y="711769"/>
                  </a:lnTo>
                  <a:lnTo>
                    <a:pt x="0" y="7117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3449" r="0" b="-31809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3909319" cy="768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99" b="true">
                  <a:solidFill>
                    <a:srgbClr val="1E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Dataset</a:t>
              </a:r>
            </a:p>
          </p:txBody>
        </p:sp>
      </p:grpSp>
      <p:graphicFrame>
        <p:nvGraphicFramePr>
          <p:cNvPr name="Table 62" id="62"/>
          <p:cNvGraphicFramePr>
            <a:graphicFrameLocks noGrp="true"/>
          </p:cNvGraphicFramePr>
          <p:nvPr/>
        </p:nvGraphicFramePr>
        <p:xfrm>
          <a:off x="6234246" y="2795149"/>
          <a:ext cx="10870987" cy="7093182"/>
        </p:xfrm>
        <a:graphic>
          <a:graphicData uri="http://schemas.openxmlformats.org/drawingml/2006/table">
            <a:tbl>
              <a:tblPr/>
              <a:tblGrid>
                <a:gridCol w="2886768"/>
                <a:gridCol w="1666018"/>
                <a:gridCol w="6318201"/>
              </a:tblGrid>
              <a:tr h="82670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Column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Data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70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OrderID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Unique identifier per order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3513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 Name / Segment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Text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Buyer name and type (Consumer, Corporate, Home Office, Small Business)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3513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Product Category / Margin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Text / Decimal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Product type and profit margin percentage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707"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 Sales region: Central, East, South, West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3513"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Quantity / Unit 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Number / Decimal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Items ordered and price per item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2523"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Order 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strike="noStrike" u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Transaction date ranging from 2020 to 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3" id="63"/>
          <p:cNvSpPr txBox="true"/>
          <p:nvPr/>
        </p:nvSpPr>
        <p:spPr>
          <a:xfrm rot="0">
            <a:off x="569281" y="451001"/>
            <a:ext cx="4056841" cy="71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7"/>
              </a:lnSpc>
            </a:pPr>
            <a:r>
              <a:rPr lang="en-US" sz="409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Data Overview 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46518" y="8428391"/>
            <a:ext cx="417641" cy="336201"/>
          </a:xfrm>
          <a:custGeom>
            <a:avLst/>
            <a:gdLst/>
            <a:ahLst/>
            <a:cxnLst/>
            <a:rect r="r" b="b" t="t" l="l"/>
            <a:pathLst>
              <a:path h="336201" w="417641">
                <a:moveTo>
                  <a:pt x="0" y="0"/>
                </a:moveTo>
                <a:lnTo>
                  <a:pt x="417641" y="0"/>
                </a:lnTo>
                <a:lnTo>
                  <a:pt x="417641" y="336201"/>
                </a:lnTo>
                <a:lnTo>
                  <a:pt x="0" y="3362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5018" y="3865624"/>
            <a:ext cx="6968982" cy="555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24"/>
              </a:lnSpc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Main steps include:</a:t>
            </a:r>
          </a:p>
          <a:p>
            <a:pPr algn="just" marL="539749" indent="-269875" lvl="1">
              <a:lnSpc>
                <a:spcPts val="49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Handl</a:t>
            </a: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ing missing or incorrect values</a:t>
            </a:r>
          </a:p>
          <a:p>
            <a:pPr algn="just" marL="539749" indent="-269875" lvl="1">
              <a:lnSpc>
                <a:spcPts val="49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Removing duplicates</a:t>
            </a:r>
          </a:p>
          <a:p>
            <a:pPr algn="just" marL="539749" indent="-269875" lvl="1">
              <a:lnSpc>
                <a:spcPts val="49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Changing data types:</a:t>
            </a:r>
          </a:p>
          <a:p>
            <a:pPr algn="just">
              <a:lnSpc>
                <a:spcPts val="4924"/>
              </a:lnSpc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      </a:t>
            </a: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Quantity → Numeric</a:t>
            </a:r>
          </a:p>
          <a:p>
            <a:pPr algn="just">
              <a:lnSpc>
                <a:spcPts val="4924"/>
              </a:lnSpc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      Unit Price → Decimal</a:t>
            </a:r>
          </a:p>
          <a:p>
            <a:pPr algn="just">
              <a:lnSpc>
                <a:spcPts val="4924"/>
              </a:lnSpc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      Product Margin → Percentage</a:t>
            </a:r>
          </a:p>
          <a:p>
            <a:pPr algn="just">
              <a:lnSpc>
                <a:spcPts val="4924"/>
              </a:lnSpc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           Order Date → Date format</a:t>
            </a:r>
          </a:p>
          <a:p>
            <a:pPr algn="just">
              <a:lnSpc>
                <a:spcPts val="4924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746518" y="7203539"/>
            <a:ext cx="417641" cy="336201"/>
          </a:xfrm>
          <a:custGeom>
            <a:avLst/>
            <a:gdLst/>
            <a:ahLst/>
            <a:cxnLst/>
            <a:rect r="r" b="b" t="t" l="l"/>
            <a:pathLst>
              <a:path h="336201" w="417641">
                <a:moveTo>
                  <a:pt x="0" y="0"/>
                </a:moveTo>
                <a:lnTo>
                  <a:pt x="417641" y="0"/>
                </a:lnTo>
                <a:lnTo>
                  <a:pt x="417641" y="336201"/>
                </a:lnTo>
                <a:lnTo>
                  <a:pt x="0" y="3362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46518" y="7815965"/>
            <a:ext cx="417641" cy="336201"/>
          </a:xfrm>
          <a:custGeom>
            <a:avLst/>
            <a:gdLst/>
            <a:ahLst/>
            <a:cxnLst/>
            <a:rect r="r" b="b" t="t" l="l"/>
            <a:pathLst>
              <a:path h="336201" w="417641">
                <a:moveTo>
                  <a:pt x="0" y="0"/>
                </a:moveTo>
                <a:lnTo>
                  <a:pt x="417641" y="0"/>
                </a:lnTo>
                <a:lnTo>
                  <a:pt x="417641" y="336201"/>
                </a:lnTo>
                <a:lnTo>
                  <a:pt x="0" y="3362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46518" y="6589948"/>
            <a:ext cx="417641" cy="336201"/>
          </a:xfrm>
          <a:custGeom>
            <a:avLst/>
            <a:gdLst/>
            <a:ahLst/>
            <a:cxnLst/>
            <a:rect r="r" b="b" t="t" l="l"/>
            <a:pathLst>
              <a:path h="336201" w="417641">
                <a:moveTo>
                  <a:pt x="0" y="0"/>
                </a:moveTo>
                <a:lnTo>
                  <a:pt x="417641" y="0"/>
                </a:lnTo>
                <a:lnTo>
                  <a:pt x="417641" y="336201"/>
                </a:lnTo>
                <a:lnTo>
                  <a:pt x="0" y="3362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41249" y="1334231"/>
            <a:ext cx="856857" cy="677988"/>
          </a:xfrm>
          <a:custGeom>
            <a:avLst/>
            <a:gdLst/>
            <a:ahLst/>
            <a:cxnLst/>
            <a:rect r="r" b="b" t="t" l="l"/>
            <a:pathLst>
              <a:path h="677988" w="856857">
                <a:moveTo>
                  <a:pt x="0" y="0"/>
                </a:moveTo>
                <a:lnTo>
                  <a:pt x="856858" y="0"/>
                </a:lnTo>
                <a:lnTo>
                  <a:pt x="856858" y="677989"/>
                </a:lnTo>
                <a:lnTo>
                  <a:pt x="0" y="6779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0113" y="3928185"/>
            <a:ext cx="522577" cy="522577"/>
          </a:xfrm>
          <a:custGeom>
            <a:avLst/>
            <a:gdLst/>
            <a:ahLst/>
            <a:cxnLst/>
            <a:rect r="r" b="b" t="t" l="l"/>
            <a:pathLst>
              <a:path h="522577" w="522577">
                <a:moveTo>
                  <a:pt x="0" y="0"/>
                </a:moveTo>
                <a:lnTo>
                  <a:pt x="522577" y="0"/>
                </a:lnTo>
                <a:lnTo>
                  <a:pt x="522577" y="522577"/>
                </a:lnTo>
                <a:lnTo>
                  <a:pt x="0" y="5225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857250"/>
            <a:ext cx="9937863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Data Preprocessing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7534" y="2684524"/>
            <a:ext cx="1508428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Before build</a:t>
            </a: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ing the dashboard, the data should be cleaned and prepared to ensure accuracy and consistency.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97626" y="3476625"/>
            <a:ext cx="9292749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DAX Measure </a:t>
            </a:r>
          </a:p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&amp; Calculation</a:t>
            </a:r>
          </a:p>
        </p:txBody>
      </p:sp>
      <p:sp>
        <p:nvSpPr>
          <p:cNvPr name="Freeform 5" id="5"/>
          <p:cNvSpPr/>
          <p:nvPr/>
        </p:nvSpPr>
        <p:spPr>
          <a:xfrm>
            <a:off x="3765047" y="2980153"/>
            <a:ext cx="10648659" cy="4326694"/>
          </a:xfrm>
          <a:custGeom>
            <a:avLst/>
            <a:gdLst/>
            <a:ahLst/>
            <a:cxnLst/>
            <a:rect r="r" b="b" t="t" l="l"/>
            <a:pathLst>
              <a:path h="4326694" w="10648659">
                <a:moveTo>
                  <a:pt x="10648659" y="4326694"/>
                </a:moveTo>
                <a:lnTo>
                  <a:pt x="228600" y="4326694"/>
                </a:lnTo>
                <a:cubicBezTo>
                  <a:pt x="102348" y="4326694"/>
                  <a:pt x="0" y="4224346"/>
                  <a:pt x="0" y="4098094"/>
                </a:cubicBezTo>
                <a:lnTo>
                  <a:pt x="0" y="228600"/>
                </a:lnTo>
                <a:cubicBezTo>
                  <a:pt x="0" y="102347"/>
                  <a:pt x="102348" y="0"/>
                  <a:pt x="228600" y="0"/>
                </a:cubicBezTo>
                <a:lnTo>
                  <a:pt x="9121871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>
            <a:off x="4481657" y="3597628"/>
            <a:ext cx="10014740" cy="2941755"/>
          </a:xfrm>
          <a:custGeom>
            <a:avLst/>
            <a:gdLst/>
            <a:ahLst/>
            <a:cxnLst/>
            <a:rect r="r" b="b" t="t" l="l"/>
            <a:pathLst>
              <a:path h="2941755" w="10014740">
                <a:moveTo>
                  <a:pt x="0" y="2941754"/>
                </a:moveTo>
                <a:lnTo>
                  <a:pt x="9786140" y="2941754"/>
                </a:lnTo>
                <a:cubicBezTo>
                  <a:pt x="9846769" y="2941754"/>
                  <a:pt x="9904914" y="2917670"/>
                  <a:pt x="9947785" y="2874799"/>
                </a:cubicBezTo>
                <a:cubicBezTo>
                  <a:pt x="9990657" y="2831928"/>
                  <a:pt x="10014740" y="2773783"/>
                  <a:pt x="10014740" y="2713154"/>
                </a:cubicBezTo>
                <a:lnTo>
                  <a:pt x="10014740" y="228600"/>
                </a:lnTo>
                <a:cubicBezTo>
                  <a:pt x="10014740" y="102347"/>
                  <a:pt x="9912393" y="0"/>
                  <a:pt x="9786140" y="0"/>
                </a:cubicBezTo>
                <a:lnTo>
                  <a:pt x="1473613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522755" y="3389235"/>
          <a:ext cx="15027430" cy="4921132"/>
        </p:xfrm>
        <a:graphic>
          <a:graphicData uri="http://schemas.openxmlformats.org/drawingml/2006/table">
            <a:tbl>
              <a:tblPr/>
              <a:tblGrid>
                <a:gridCol w="2291042"/>
                <a:gridCol w="6536749"/>
                <a:gridCol w="6199638"/>
              </a:tblGrid>
              <a:tr h="82868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Column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DAX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8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'Order Table'[Unit Price] *'Order Table'[Quantity]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sales amount calculated from price × quantity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942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ofit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'Order 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able'[R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venue]*'Order Table'[Produc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Margin]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Earnings after applying product margin to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942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Month_Number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MONTH('Order Table'[Order Date])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Numeric value of the order month (1–12)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942"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th_Name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FORMA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('Ord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 Table'[Order Da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e], "mmm")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Short name of the month (e.g., Jan, Feb)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942"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YEAR('Ord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 T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b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l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e'[Order Date])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Year extracted from the order 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857250"/>
            <a:ext cx="1502743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Order Table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22755" y="2586577"/>
            <a:ext cx="10431990" cy="533833"/>
            <a:chOff x="0" y="0"/>
            <a:chExt cx="13909319" cy="7117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09315" cy="711769"/>
            </a:xfrm>
            <a:custGeom>
              <a:avLst/>
              <a:gdLst/>
              <a:ahLst/>
              <a:cxnLst/>
              <a:rect r="r" b="b" t="t" l="l"/>
              <a:pathLst>
                <a:path h="711769" w="13909315">
                  <a:moveTo>
                    <a:pt x="0" y="0"/>
                  </a:moveTo>
                  <a:lnTo>
                    <a:pt x="13909315" y="0"/>
                  </a:lnTo>
                  <a:lnTo>
                    <a:pt x="13909315" y="711769"/>
                  </a:lnTo>
                  <a:lnTo>
                    <a:pt x="0" y="7117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3449" r="0" b="-3180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909319" cy="768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99" b="true">
                  <a:solidFill>
                    <a:srgbClr val="1E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Fact Table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57250"/>
            <a:ext cx="1502743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Measure Table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3211731"/>
          <a:ext cx="16230600" cy="5718116"/>
        </p:xfrm>
        <a:graphic>
          <a:graphicData uri="http://schemas.openxmlformats.org/drawingml/2006/table">
            <a:tbl>
              <a:tblPr/>
              <a:tblGrid>
                <a:gridCol w="2785828"/>
                <a:gridCol w="9393592"/>
                <a:gridCol w="4051180"/>
              </a:tblGrid>
              <a:tr h="82778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Measure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DAX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056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R</a:t>
                      </a: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SUM('Order Table'[Revenue])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</a:t>
                      </a: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um of all sales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056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Quantity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SUM(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'Order Table'[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Q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ua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nt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ty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]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Sum of all quantity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056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Profit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SUM('Order Table'[Profit])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Sum of all Profit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056"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>
                          <a:solidFill>
                            <a:srgbClr val="080808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LY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CALCULATE([TotalRevenue], SAMEPERIODLAS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TYEAR('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Dat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 Table'[Date]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)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Last year's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056"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LY Qu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antity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CALCULATE([Total Quantity], SAMEPERIODLASTYEAR('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Dat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 Table'[Date])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Last year's sales volume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5056"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LY P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ofi</a:t>
                      </a:r>
                      <a:r>
                        <a:rPr lang="en-US" sz="1800" strike="noStrike" u="none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CALCULATE([Total Profit], SAMEPERIODLASTYEAR('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Date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Table'[Date]))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Last year's profit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1637522" y="2497824"/>
            <a:ext cx="10431990" cy="533833"/>
            <a:chOff x="0" y="0"/>
            <a:chExt cx="13909319" cy="7117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09315" cy="711769"/>
            </a:xfrm>
            <a:custGeom>
              <a:avLst/>
              <a:gdLst/>
              <a:ahLst/>
              <a:cxnLst/>
              <a:rect r="r" b="b" t="t" l="l"/>
              <a:pathLst>
                <a:path h="711769" w="13909315">
                  <a:moveTo>
                    <a:pt x="0" y="0"/>
                  </a:moveTo>
                  <a:lnTo>
                    <a:pt x="13909315" y="0"/>
                  </a:lnTo>
                  <a:lnTo>
                    <a:pt x="13909315" y="711769"/>
                  </a:lnTo>
                  <a:lnTo>
                    <a:pt x="0" y="7117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3449" r="0" b="-31809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909319" cy="768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99" b="true">
                  <a:solidFill>
                    <a:srgbClr val="1E3A5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Fact Table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57250"/>
            <a:ext cx="1502743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Measure Table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3211731"/>
          <a:ext cx="16230600" cy="3276600"/>
        </p:xfrm>
        <a:graphic>
          <a:graphicData uri="http://schemas.openxmlformats.org/drawingml/2006/table">
            <a:tbl>
              <a:tblPr/>
              <a:tblGrid>
                <a:gridCol w="2785828"/>
                <a:gridCol w="6782451"/>
                <a:gridCol w="6662321"/>
              </a:tblGrid>
              <a:tr h="81915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Measure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DAX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</a:t>
                      </a: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evenue YoY Growth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([Total Revenue]/[LY Revenue])-1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Revenue growth compared to last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Quantity YoY Growth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(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[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Total Quantity]/[LY Quantity])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-1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Sales volume growth compared to last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Profit YoY Growth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([Total Profit]/[LY Profit])-1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Profit growth compared to last 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531695" y="9836468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57250"/>
            <a:ext cx="1502743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Measure Table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2317751"/>
          <a:ext cx="16230600" cy="7061141"/>
        </p:xfrm>
        <a:graphic>
          <a:graphicData uri="http://schemas.openxmlformats.org/drawingml/2006/table">
            <a:tbl>
              <a:tblPr/>
              <a:tblGrid>
                <a:gridCol w="3378636"/>
                <a:gridCol w="7796499"/>
                <a:gridCol w="5055465"/>
              </a:tblGrid>
              <a:tr h="826727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Measure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DAX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81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V2_Profit</a:t>
                      </a: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YoY Growth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VAR _percentage = [Profit YoY Growth] </a:t>
                      </a:r>
                      <a:endParaRPr lang="en-US" sz="1100"/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  VAR _arrow = IF(_percentage&gt;=0,"</a:t>
                      </a:r>
                      <a:r>
                        <a:rPr lang="en-US" sz="1800" b="true">
                          <a:solidFill>
                            <a:srgbClr val="5DCAA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▲</a:t>
                      </a: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","</a:t>
                      </a:r>
                      <a:r>
                        <a:rPr lang="en-US" sz="1800" b="true">
                          <a:solidFill>
                            <a:srgbClr val="F0959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▼</a:t>
                      </a: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")</a:t>
                      </a:r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  VAR _formatted = FORMAT(ABS(_percentage),"0.0%")</a:t>
                      </a:r>
                    </a:p>
                    <a:p>
                      <a:pPr algn="just">
                        <a:lnSpc>
                          <a:spcPts val="2520"/>
                        </a:lnSpc>
                      </a:pPr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  RETURN _arrow &amp; _formatted &amp; " vs LY"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Revenue growth with visual indicator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8138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V2_Quantity YoY Growth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= VAR _percentage = [Quantity YoY Growth] </a:t>
                      </a:r>
                      <a:endParaRPr lang="en-US" sz="1100"/>
                    </a:p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</a:pP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    VAR _arrow = IF(_percentage&gt;=0,"</a:t>
                      </a:r>
                      <a:r>
                        <a:rPr lang="en-US" b="true" sz="1800" strike="noStrike" u="none">
                          <a:solidFill>
                            <a:srgbClr val="5DCAA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▲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","</a:t>
                      </a:r>
                      <a:r>
                        <a:rPr lang="en-US" b="true" sz="1800" strike="noStrike" u="none">
                          <a:solidFill>
                            <a:srgbClr val="F0959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▼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")</a:t>
                      </a:r>
                    </a:p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</a:pP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    VAR _formatted = FORMAT(ABS(_percentage),"0.0%")</a:t>
                      </a:r>
                    </a:p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</a:pPr>
                    </a:p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</a:pP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    RETURN _arrow &amp; _formatted &amp; " vs LY"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Quantity growth with visual indicator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8138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V2_Revenue YoY Growth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VAR _percentage = [Revenue YoY Growth] 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  VAR _arrow = IF(_percentage&gt;=0,"</a:t>
                      </a:r>
                      <a:r>
                        <a:rPr lang="en-US" sz="1800" b="true">
                          <a:solidFill>
                            <a:srgbClr val="5DCAA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▲</a:t>
                      </a: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","</a:t>
                      </a:r>
                      <a:r>
                        <a:rPr lang="en-US" sz="1800" b="true">
                          <a:solidFill>
                            <a:srgbClr val="F0959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▼</a:t>
                      </a: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")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  VAR _formatted = FORMAT(ABS(_percentage),"0.0%")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</a:p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</a:pP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  RETURN _arrow &amp; _formatted &amp; " vs LY"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Profit growth with visual indicator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57250"/>
            <a:ext cx="1502743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Measure Table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306487" y="3341717"/>
          <a:ext cx="15675027" cy="3289241"/>
        </p:xfrm>
        <a:graphic>
          <a:graphicData uri="http://schemas.openxmlformats.org/drawingml/2006/table">
            <a:tbl>
              <a:tblPr/>
              <a:tblGrid>
                <a:gridCol w="2786060"/>
                <a:gridCol w="7993075"/>
                <a:gridCol w="4895891"/>
              </a:tblGrid>
              <a:tr h="83190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Measure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DAX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113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olor1_Revenue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IF([Revenue YoY Growth] &gt;= 0,"</a:t>
                      </a:r>
                      <a:r>
                        <a:rPr lang="en-US" sz="1800" b="true">
                          <a:solidFill>
                            <a:srgbClr val="5DCAA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#5DCAA5</a:t>
                      </a: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", "</a:t>
                      </a:r>
                      <a:r>
                        <a:rPr lang="en-US" sz="1800" b="true">
                          <a:solidFill>
                            <a:srgbClr val="F0959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#F09595</a:t>
                      </a: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Revenue KPI color formatting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113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Color2_Profit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IF([Profit YoY Growth] &gt;= 0,"</a:t>
                      </a:r>
                      <a:r>
                        <a:rPr lang="en-US" b="true" sz="1800" strike="noStrike" u="none">
                          <a:solidFill>
                            <a:srgbClr val="5DCAA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#5DCAA5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", "</a:t>
                      </a:r>
                      <a:r>
                        <a:rPr lang="en-US" b="true" sz="1800" strike="noStrike" u="none">
                          <a:solidFill>
                            <a:srgbClr val="F0959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#F09595</a:t>
                      </a: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Profit KPI color formatting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113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Color3_Quantity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IF([Quantity YoY Growth] &gt;= 0,"</a:t>
                      </a:r>
                      <a:r>
                        <a:rPr lang="en-US" b="true" sz="1800">
                          <a:solidFill>
                            <a:srgbClr val="5DCAA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#5DCAA5</a:t>
                      </a: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", "</a:t>
                      </a:r>
                      <a:r>
                        <a:rPr lang="en-US" b="true" sz="1800">
                          <a:solidFill>
                            <a:srgbClr val="F0959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#F09595</a:t>
                      </a: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")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Quantity KPI color formatting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57250"/>
            <a:ext cx="1502743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Date Table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72074" y="3355104"/>
          <a:ext cx="15943852" cy="3276600"/>
        </p:xfrm>
        <a:graphic>
          <a:graphicData uri="http://schemas.openxmlformats.org/drawingml/2006/table">
            <a:tbl>
              <a:tblPr/>
              <a:tblGrid>
                <a:gridCol w="3935684"/>
                <a:gridCol w="6663363"/>
                <a:gridCol w="5344806"/>
              </a:tblGrid>
              <a:tr h="81915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Column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DAX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</a:t>
                      </a: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 Table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CALENDARAUTO()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Master calendar for time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Month_Name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 strike="noStrike" u="non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FORMAT('Date Table'[Date], "mmm")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Month grouping for reporting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00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YEAR('Date Table'[Date])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Year grouping for reporting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3355104"/>
          <a:ext cx="16230600" cy="2298641"/>
        </p:xfrm>
        <a:graphic>
          <a:graphicData uri="http://schemas.openxmlformats.org/drawingml/2006/table">
            <a:tbl>
              <a:tblPr/>
              <a:tblGrid>
                <a:gridCol w="2651079"/>
                <a:gridCol w="8423627"/>
                <a:gridCol w="5155893"/>
              </a:tblGrid>
              <a:tr h="8361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Column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DAX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3153BB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2516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51F2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= { ("Total Revenue", NAMEOF('Measure_Table'[Total Revenue]), 0),</a:t>
                      </a:r>
                      <a:endParaRPr lang="en-US" sz="1100"/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     ("Total Profit", NAMEOF('Measure_Table'[Total Profit]), 1),</a:t>
                      </a:r>
                    </a:p>
                    <a:p>
                      <a:pPr algn="just">
                        <a:lnSpc>
                          <a:spcPts val="2520"/>
                        </a:lnSpc>
                      </a:pPr>
                      <a:r>
                        <a:rPr lang="en-US" sz="1800" b="true">
                          <a:solidFill>
                            <a:srgbClr val="087942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     ("Total Quantity", NAMEOF('Measure_Table'[Total Quantity]), 2) }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12803" y="6053083"/>
            <a:ext cx="9862393" cy="2372907"/>
          </a:xfrm>
          <a:custGeom>
            <a:avLst/>
            <a:gdLst/>
            <a:ahLst/>
            <a:cxnLst/>
            <a:rect r="r" b="b" t="t" l="l"/>
            <a:pathLst>
              <a:path h="2372907" w="9862393">
                <a:moveTo>
                  <a:pt x="0" y="0"/>
                </a:moveTo>
                <a:lnTo>
                  <a:pt x="9862394" y="0"/>
                </a:lnTo>
                <a:lnTo>
                  <a:pt x="9862394" y="2372907"/>
                </a:lnTo>
                <a:lnTo>
                  <a:pt x="0" y="2372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791" t="-302766" r="-255159" b="-57776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57250"/>
            <a:ext cx="1502743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Parameter Table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02093" y="9927037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5"/>
                </a:lnTo>
                <a:lnTo>
                  <a:pt x="7385212" y="3247225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>
            <a:off x="1333324" y="2134407"/>
            <a:ext cx="15361556" cy="1969094"/>
          </a:xfrm>
          <a:custGeom>
            <a:avLst/>
            <a:gdLst/>
            <a:ahLst/>
            <a:cxnLst/>
            <a:rect r="r" b="b" t="t" l="l"/>
            <a:pathLst>
              <a:path h="1969094" w="15361556">
                <a:moveTo>
                  <a:pt x="5564133" y="0"/>
                </a:moveTo>
                <a:lnTo>
                  <a:pt x="228600" y="0"/>
                </a:lnTo>
                <a:cubicBezTo>
                  <a:pt x="167972" y="0"/>
                  <a:pt x="109826" y="24085"/>
                  <a:pt x="66956" y="66956"/>
                </a:cubicBezTo>
                <a:cubicBezTo>
                  <a:pt x="24085" y="109826"/>
                  <a:pt x="0" y="167972"/>
                  <a:pt x="0" y="228600"/>
                </a:cubicBezTo>
                <a:lnTo>
                  <a:pt x="0" y="1740494"/>
                </a:lnTo>
                <a:cubicBezTo>
                  <a:pt x="0" y="1866747"/>
                  <a:pt x="102348" y="1969094"/>
                  <a:pt x="228600" y="1969094"/>
                </a:cubicBezTo>
                <a:lnTo>
                  <a:pt x="15132956" y="1969094"/>
                </a:lnTo>
                <a:cubicBezTo>
                  <a:pt x="15193585" y="1969094"/>
                  <a:pt x="15251730" y="1945010"/>
                  <a:pt x="15294601" y="1902139"/>
                </a:cubicBezTo>
                <a:cubicBezTo>
                  <a:pt x="15337472" y="1859268"/>
                  <a:pt x="15361556" y="1801123"/>
                  <a:pt x="15361556" y="1740494"/>
                </a:cubicBezTo>
                <a:lnTo>
                  <a:pt x="15361556" y="644709"/>
                </a:lnTo>
                <a:cubicBezTo>
                  <a:pt x="15361556" y="518457"/>
                  <a:pt x="15259209" y="416109"/>
                  <a:pt x="15132956" y="416109"/>
                </a:cubicBezTo>
                <a:lnTo>
                  <a:pt x="5795305" y="416109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7128629" y="1678908"/>
            <a:ext cx="3534938" cy="81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475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3327" y="2721470"/>
            <a:ext cx="15390399" cy="139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5009" indent="-28750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YoY formula breaks without year slicer selected</a:t>
            </a:r>
          </a:p>
          <a:p>
            <a:pPr algn="just" marL="575009" indent="-28750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Coordinating DAX measures between team members without breaking each other's work</a:t>
            </a:r>
          </a:p>
          <a:p>
            <a:pPr algn="just">
              <a:lnSpc>
                <a:spcPts val="3728"/>
              </a:lnSpc>
            </a:pPr>
          </a:p>
        </p:txBody>
      </p:sp>
      <p:sp>
        <p:nvSpPr>
          <p:cNvPr name="Freeform 7" id="7"/>
          <p:cNvSpPr/>
          <p:nvPr/>
        </p:nvSpPr>
        <p:spPr>
          <a:xfrm>
            <a:off x="1333324" y="4422228"/>
            <a:ext cx="15361556" cy="3055602"/>
          </a:xfrm>
          <a:custGeom>
            <a:avLst/>
            <a:gdLst/>
            <a:ahLst/>
            <a:cxnLst/>
            <a:rect r="r" b="b" t="t" l="l"/>
            <a:pathLst>
              <a:path h="3055602" w="15361556">
                <a:moveTo>
                  <a:pt x="5564133" y="554812"/>
                </a:moveTo>
                <a:lnTo>
                  <a:pt x="228600" y="554812"/>
                </a:lnTo>
                <a:cubicBezTo>
                  <a:pt x="102348" y="554812"/>
                  <a:pt x="0" y="657160"/>
                  <a:pt x="0" y="783412"/>
                </a:cubicBezTo>
                <a:lnTo>
                  <a:pt x="0" y="2827002"/>
                </a:lnTo>
                <a:cubicBezTo>
                  <a:pt x="0" y="2887630"/>
                  <a:pt x="24085" y="2945776"/>
                  <a:pt x="66956" y="2988646"/>
                </a:cubicBezTo>
                <a:cubicBezTo>
                  <a:pt x="109826" y="3031517"/>
                  <a:pt x="167972" y="3055602"/>
                  <a:pt x="228600" y="3055602"/>
                </a:cubicBezTo>
                <a:lnTo>
                  <a:pt x="15132956" y="3055602"/>
                </a:lnTo>
                <a:cubicBezTo>
                  <a:pt x="15259209" y="3055602"/>
                  <a:pt x="15361556" y="2953254"/>
                  <a:pt x="15361556" y="2827002"/>
                </a:cubicBezTo>
                <a:lnTo>
                  <a:pt x="15361556" y="228600"/>
                </a:lnTo>
                <a:cubicBezTo>
                  <a:pt x="15361556" y="102347"/>
                  <a:pt x="15259209" y="0"/>
                  <a:pt x="15132956" y="0"/>
                </a:cubicBezTo>
                <a:lnTo>
                  <a:pt x="5379196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7128629" y="4521541"/>
            <a:ext cx="3049478" cy="81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475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Limitation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3327" y="5359886"/>
            <a:ext cx="15390399" cy="233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5009" indent="-28750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Year hardcoded as 2020-2023 not fully dynamic</a:t>
            </a:r>
          </a:p>
          <a:p>
            <a:pPr algn="just" marL="575009" indent="-28750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drill-down to city or state level</a:t>
            </a:r>
          </a:p>
          <a:p>
            <a:pPr algn="just" marL="575009" indent="-28750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6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forecast or prediction for future sales</a:t>
            </a:r>
          </a:p>
          <a:p>
            <a:pPr algn="just" marL="575009" indent="-28750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only covers US regions, no international</a:t>
            </a:r>
          </a:p>
          <a:p>
            <a:pPr algn="just">
              <a:lnSpc>
                <a:spcPts val="3728"/>
              </a:lnSpc>
            </a:pPr>
          </a:p>
        </p:txBody>
      </p:sp>
      <p:sp>
        <p:nvSpPr>
          <p:cNvPr name="Freeform 10" id="10"/>
          <p:cNvSpPr/>
          <p:nvPr/>
        </p:nvSpPr>
        <p:spPr>
          <a:xfrm>
            <a:off x="1333324" y="8127499"/>
            <a:ext cx="15361556" cy="1969095"/>
          </a:xfrm>
          <a:custGeom>
            <a:avLst/>
            <a:gdLst/>
            <a:ahLst/>
            <a:cxnLst/>
            <a:rect r="r" b="b" t="t" l="l"/>
            <a:pathLst>
              <a:path h="1969095" w="15361556">
                <a:moveTo>
                  <a:pt x="5564133" y="0"/>
                </a:moveTo>
                <a:lnTo>
                  <a:pt x="228600" y="0"/>
                </a:lnTo>
                <a:cubicBezTo>
                  <a:pt x="102348" y="0"/>
                  <a:pt x="0" y="102348"/>
                  <a:pt x="0" y="228600"/>
                </a:cubicBezTo>
                <a:lnTo>
                  <a:pt x="0" y="1740495"/>
                </a:lnTo>
                <a:cubicBezTo>
                  <a:pt x="0" y="1866747"/>
                  <a:pt x="102348" y="1969095"/>
                  <a:pt x="228600" y="1969095"/>
                </a:cubicBezTo>
                <a:lnTo>
                  <a:pt x="15132956" y="1969095"/>
                </a:lnTo>
                <a:cubicBezTo>
                  <a:pt x="15193585" y="1969095"/>
                  <a:pt x="15251730" y="1945010"/>
                  <a:pt x="15294601" y="1902139"/>
                </a:cubicBezTo>
                <a:cubicBezTo>
                  <a:pt x="15337472" y="1859269"/>
                  <a:pt x="15361556" y="1801124"/>
                  <a:pt x="15361556" y="1740495"/>
                </a:cubicBezTo>
                <a:lnTo>
                  <a:pt x="15361556" y="228600"/>
                </a:lnTo>
                <a:cubicBezTo>
                  <a:pt x="15361556" y="102348"/>
                  <a:pt x="15259209" y="0"/>
                  <a:pt x="15132956" y="0"/>
                </a:cubicBezTo>
                <a:lnTo>
                  <a:pt x="9330243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7128629" y="7672001"/>
            <a:ext cx="3534938" cy="81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475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Future 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3327" y="8430598"/>
            <a:ext cx="13796145" cy="185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009" indent="-28750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 city/state level drill down</a:t>
            </a:r>
          </a:p>
          <a:p>
            <a:pPr algn="just" marL="575009" indent="-28750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 sales forecasting visual</a:t>
            </a:r>
          </a:p>
          <a:p>
            <a:pPr algn="just" marL="575009" indent="-287504" lvl="1">
              <a:lnSpc>
                <a:spcPts val="3728"/>
              </a:lnSpc>
              <a:buFont typeface="Arial"/>
              <a:buChar char="•"/>
            </a:pPr>
            <a:r>
              <a:rPr lang="en-US" sz="266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 product level analysis page</a:t>
            </a:r>
          </a:p>
          <a:p>
            <a:pPr algn="just">
              <a:lnSpc>
                <a:spcPts val="372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-1031988" y="46958"/>
            <a:ext cx="9937863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Discussion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82927" y="3481387"/>
            <a:ext cx="13522145" cy="321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The Superstore Reg</a:t>
            </a: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ional Sales Dashboard effectively tracks revenue, profit, and quantity across four regions from 2020 to 2023. </a:t>
            </a:r>
          </a:p>
          <a:p>
            <a:pPr algn="just">
              <a:lnSpc>
                <a:spcPts val="3674"/>
              </a:lnSpc>
              <a:spcBef>
                <a:spcPct val="0"/>
              </a:spcBef>
            </a:pPr>
          </a:p>
          <a:p>
            <a:pPr algn="just">
              <a:lnSpc>
                <a:spcPts val="36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The East and West regions led overall growth, with the Corporate segment consistently driving the highest returns. The dashboard serves as a practical tool for monitoring performance and supporting data-driven business decisions.</a:t>
            </a:r>
          </a:p>
          <a:p>
            <a:pPr algn="just">
              <a:lnSpc>
                <a:spcPts val="3674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88252" y="3586162"/>
            <a:ext cx="483881" cy="345755"/>
          </a:xfrm>
          <a:custGeom>
            <a:avLst/>
            <a:gdLst/>
            <a:ahLst/>
            <a:cxnLst/>
            <a:rect r="r" b="b" t="t" l="l"/>
            <a:pathLst>
              <a:path h="345755" w="483881">
                <a:moveTo>
                  <a:pt x="0" y="0"/>
                </a:moveTo>
                <a:lnTo>
                  <a:pt x="483882" y="0"/>
                </a:lnTo>
                <a:lnTo>
                  <a:pt x="483882" y="345756"/>
                </a:lnTo>
                <a:lnTo>
                  <a:pt x="0" y="345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75069" y="857250"/>
            <a:ext cx="9937863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88252" y="4970622"/>
            <a:ext cx="483881" cy="345755"/>
          </a:xfrm>
          <a:custGeom>
            <a:avLst/>
            <a:gdLst/>
            <a:ahLst/>
            <a:cxnLst/>
            <a:rect r="r" b="b" t="t" l="l"/>
            <a:pathLst>
              <a:path h="345755" w="483881">
                <a:moveTo>
                  <a:pt x="0" y="0"/>
                </a:moveTo>
                <a:lnTo>
                  <a:pt x="483882" y="0"/>
                </a:lnTo>
                <a:lnTo>
                  <a:pt x="483882" y="345756"/>
                </a:lnTo>
                <a:lnTo>
                  <a:pt x="0" y="345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97626" y="3777146"/>
            <a:ext cx="9292749" cy="215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Demo</a:t>
            </a:r>
          </a:p>
        </p:txBody>
      </p:sp>
      <p:sp>
        <p:nvSpPr>
          <p:cNvPr name="Freeform 5" id="5"/>
          <p:cNvSpPr/>
          <p:nvPr/>
        </p:nvSpPr>
        <p:spPr>
          <a:xfrm>
            <a:off x="3765047" y="2980153"/>
            <a:ext cx="10648659" cy="4326694"/>
          </a:xfrm>
          <a:custGeom>
            <a:avLst/>
            <a:gdLst/>
            <a:ahLst/>
            <a:cxnLst/>
            <a:rect r="r" b="b" t="t" l="l"/>
            <a:pathLst>
              <a:path h="4326694" w="10648659">
                <a:moveTo>
                  <a:pt x="10648659" y="4326694"/>
                </a:moveTo>
                <a:lnTo>
                  <a:pt x="228600" y="4326694"/>
                </a:lnTo>
                <a:cubicBezTo>
                  <a:pt x="102348" y="4326694"/>
                  <a:pt x="0" y="4224346"/>
                  <a:pt x="0" y="4098094"/>
                </a:cubicBezTo>
                <a:lnTo>
                  <a:pt x="0" y="228600"/>
                </a:lnTo>
                <a:cubicBezTo>
                  <a:pt x="0" y="102347"/>
                  <a:pt x="102348" y="0"/>
                  <a:pt x="228600" y="0"/>
                </a:cubicBezTo>
                <a:lnTo>
                  <a:pt x="9121871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>
            <a:off x="4481657" y="3597628"/>
            <a:ext cx="10014740" cy="2941755"/>
          </a:xfrm>
          <a:custGeom>
            <a:avLst/>
            <a:gdLst/>
            <a:ahLst/>
            <a:cxnLst/>
            <a:rect r="r" b="b" t="t" l="l"/>
            <a:pathLst>
              <a:path h="2941755" w="10014740">
                <a:moveTo>
                  <a:pt x="0" y="2941754"/>
                </a:moveTo>
                <a:lnTo>
                  <a:pt x="9786140" y="2941754"/>
                </a:lnTo>
                <a:cubicBezTo>
                  <a:pt x="9846769" y="2941754"/>
                  <a:pt x="9904914" y="2917670"/>
                  <a:pt x="9947785" y="2874799"/>
                </a:cubicBezTo>
                <a:cubicBezTo>
                  <a:pt x="9990657" y="2831928"/>
                  <a:pt x="10014740" y="2773783"/>
                  <a:pt x="10014740" y="2713154"/>
                </a:cubicBezTo>
                <a:lnTo>
                  <a:pt x="10014740" y="228600"/>
                </a:lnTo>
                <a:cubicBezTo>
                  <a:pt x="10014740" y="102347"/>
                  <a:pt x="9912393" y="0"/>
                  <a:pt x="9786140" y="0"/>
                </a:cubicBezTo>
                <a:lnTo>
                  <a:pt x="1473613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58129" y="-2195789"/>
            <a:ext cx="8829871" cy="3882432"/>
          </a:xfrm>
          <a:custGeom>
            <a:avLst/>
            <a:gdLst/>
            <a:ahLst/>
            <a:cxnLst/>
            <a:rect r="r" b="b" t="t" l="l"/>
            <a:pathLst>
              <a:path h="3882432" w="8829871">
                <a:moveTo>
                  <a:pt x="0" y="0"/>
                </a:moveTo>
                <a:lnTo>
                  <a:pt x="8829871" y="0"/>
                </a:lnTo>
                <a:lnTo>
                  <a:pt x="8829871" y="3882432"/>
                </a:lnTo>
                <a:lnTo>
                  <a:pt x="0" y="3882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7626" y="3777146"/>
            <a:ext cx="9292749" cy="215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Q &amp; A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0" y="8623094"/>
            <a:ext cx="8829871" cy="3882432"/>
          </a:xfrm>
          <a:custGeom>
            <a:avLst/>
            <a:gdLst/>
            <a:ahLst/>
            <a:cxnLst/>
            <a:rect r="r" b="b" t="t" l="l"/>
            <a:pathLst>
              <a:path h="3882432" w="8829871">
                <a:moveTo>
                  <a:pt x="8829871" y="0"/>
                </a:moveTo>
                <a:lnTo>
                  <a:pt x="0" y="0"/>
                </a:lnTo>
                <a:lnTo>
                  <a:pt x="0" y="3882432"/>
                </a:lnTo>
                <a:lnTo>
                  <a:pt x="8829871" y="3882432"/>
                </a:lnTo>
                <a:lnTo>
                  <a:pt x="88298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>
            <a:off x="3765047" y="2980153"/>
            <a:ext cx="10648659" cy="4326694"/>
          </a:xfrm>
          <a:custGeom>
            <a:avLst/>
            <a:gdLst/>
            <a:ahLst/>
            <a:cxnLst/>
            <a:rect r="r" b="b" t="t" l="l"/>
            <a:pathLst>
              <a:path h="4326694" w="10648659">
                <a:moveTo>
                  <a:pt x="10648659" y="4326694"/>
                </a:moveTo>
                <a:lnTo>
                  <a:pt x="228600" y="4326694"/>
                </a:lnTo>
                <a:cubicBezTo>
                  <a:pt x="102348" y="4326694"/>
                  <a:pt x="0" y="4224346"/>
                  <a:pt x="0" y="4098094"/>
                </a:cubicBezTo>
                <a:lnTo>
                  <a:pt x="0" y="228600"/>
                </a:lnTo>
                <a:cubicBezTo>
                  <a:pt x="0" y="102347"/>
                  <a:pt x="102348" y="0"/>
                  <a:pt x="228600" y="0"/>
                </a:cubicBezTo>
                <a:lnTo>
                  <a:pt x="9121871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6" id="6"/>
          <p:cNvSpPr/>
          <p:nvPr/>
        </p:nvSpPr>
        <p:spPr>
          <a:xfrm>
            <a:off x="4481657" y="3597628"/>
            <a:ext cx="10014740" cy="2941755"/>
          </a:xfrm>
          <a:custGeom>
            <a:avLst/>
            <a:gdLst/>
            <a:ahLst/>
            <a:cxnLst/>
            <a:rect r="r" b="b" t="t" l="l"/>
            <a:pathLst>
              <a:path h="2941755" w="10014740">
                <a:moveTo>
                  <a:pt x="0" y="2941754"/>
                </a:moveTo>
                <a:lnTo>
                  <a:pt x="9786140" y="2941754"/>
                </a:lnTo>
                <a:cubicBezTo>
                  <a:pt x="9846769" y="2941754"/>
                  <a:pt x="9904914" y="2917670"/>
                  <a:pt x="9947785" y="2874799"/>
                </a:cubicBezTo>
                <a:cubicBezTo>
                  <a:pt x="9990657" y="2831928"/>
                  <a:pt x="10014740" y="2773783"/>
                  <a:pt x="10014740" y="2713154"/>
                </a:cubicBezTo>
                <a:lnTo>
                  <a:pt x="10014740" y="228600"/>
                </a:lnTo>
                <a:cubicBezTo>
                  <a:pt x="10014740" y="102347"/>
                  <a:pt x="9912393" y="0"/>
                  <a:pt x="9786140" y="0"/>
                </a:cubicBezTo>
                <a:lnTo>
                  <a:pt x="1473613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DAHL92OQ0KE</dc:identifier>
  <dcterms:modified xsi:type="dcterms:W3CDTF">2011-08-01T06:04:30Z</dcterms:modified>
  <cp:revision>1</cp:revision>
  <dc:title>Final Super Regional Sales Performance</dc:title>
</cp:coreProperties>
</file>